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5119350" cy="21383625"/>
  <p:notesSz cx="6858000" cy="9144000"/>
  <p:embeddedFontLst>
    <p:embeddedFont>
      <p:font typeface="Comic Sans MS" panose="030F0702030302020204" pitchFamily="66" charset="0"/>
      <p:regular r:id="rId4"/>
      <p:bold r:id="rId5"/>
      <p:italic r:id="rId6"/>
      <p:boldItalic r:id="rId7"/>
    </p:embeddedFont>
    <p:embeddedFont>
      <p:font typeface="Georgia" panose="02040502050405020303" pitchFamily="18" charset="0"/>
      <p:regular r:id="rId8"/>
      <p:bold r:id="rId9"/>
      <p:italic r:id="rId10"/>
      <p:boldItalic r:id="rId11"/>
    </p:embeddedFont>
    <p:embeddedFont>
      <p:font typeface="Playfair Display" panose="00000500000000000000" pitchFamily="2" charset="0"/>
      <p:regular r:id="rId12"/>
      <p:bold r:id="rId13"/>
      <p:italic r:id="rId14"/>
      <p:boldItalic r:id="rId15"/>
    </p:embeddedFont>
    <p:embeddedFont>
      <p:font typeface="Tahoma" panose="020B0604030504040204" pitchFamily="34" charset="0"/>
      <p:regular r:id="rId16"/>
      <p:bold r:id="rId17"/>
    </p:embeddedFont>
    <p:embeddedFont>
      <p:font typeface="Trebuchet MS" panose="020B0603020202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47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33517C-23EA-4E59-8BCE-59E32CA4741B}" v="614" dt="2026-07-09T10:29:34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8" autoAdjust="0"/>
  </p:normalViewPr>
  <p:slideViewPr>
    <p:cSldViewPr snapToGrid="0">
      <p:cViewPr>
        <p:scale>
          <a:sx n="75" d="100"/>
          <a:sy n="75" d="100"/>
        </p:scale>
        <p:origin x="254" y="-2155"/>
      </p:cViewPr>
      <p:guideLst>
        <p:guide orient="horz" pos="6735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microsoft.com/office/2015/10/relationships/revisionInfo" Target="revisionInfo.xml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theme" Target="theme/theme1.xml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viewProps" Target="viewProps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75743496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04862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58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0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014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87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5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74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9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2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8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50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687604" y="2002104"/>
            <a:ext cx="7316458" cy="18902372"/>
          </a:xfrm>
          <a:prstGeom prst="roundRect">
            <a:avLst>
              <a:gd name="adj" fmla="val 2556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endParaRPr lang="en-US" sz="1150" dirty="0">
              <a:solidFill>
                <a:schemeClr val="dk1"/>
              </a:solidFill>
              <a:ea typeface="Calibri"/>
              <a:cs typeface="Calibri"/>
            </a:endParaRPr>
          </a:p>
          <a:p>
            <a:pPr>
              <a:buSzPts val="2800"/>
            </a:pPr>
            <a:endParaRPr sz="1150" dirty="0">
              <a:solidFill>
                <a:schemeClr val="dk1"/>
              </a:solidFill>
              <a:ea typeface="Calibri"/>
              <a:cs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1439" y="41090"/>
            <a:ext cx="14935940" cy="179583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 algn="ctr">
              <a:buClr>
                <a:schemeClr val="dk1"/>
              </a:buClr>
              <a:buSzPts val="4000"/>
            </a:pPr>
            <a:r>
              <a:rPr lang="en-IN" sz="24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RV College of Engineering, Bengaluru – 560059.</a:t>
            </a: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079591" y="566806"/>
            <a:ext cx="10258425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IN" sz="24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ahoma" panose="020B0604030504040204"/>
                <a:cs typeface="Times New Roman"/>
              </a:rPr>
              <a:t>        Smart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ahoma" panose="020B0604030504040204"/>
                <a:cs typeface="Times New Roman"/>
              </a:rPr>
              <a:t> Energy Management and Room Automation System</a:t>
            </a:r>
            <a:endParaRPr lang="en-US" sz="2400" dirty="0"/>
          </a:p>
        </p:txBody>
      </p:sp>
      <p:sp>
        <p:nvSpPr>
          <p:cNvPr id="93" name="Google Shape;93;p1"/>
          <p:cNvSpPr txBox="1"/>
          <p:nvPr/>
        </p:nvSpPr>
        <p:spPr>
          <a:xfrm>
            <a:off x="1" y="1266218"/>
            <a:ext cx="14935978" cy="654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/>
                <a:cs typeface="Times New Roman"/>
              </a:rPr>
              <a:t>Rohan G | Rohan </a:t>
            </a:r>
            <a:r>
              <a:rPr lang="en-US" sz="2000" dirty="0" err="1">
                <a:solidFill>
                  <a:srgbClr val="002060"/>
                </a:solidFill>
                <a:latin typeface="Times New Roman"/>
                <a:cs typeface="Times New Roman"/>
              </a:rPr>
              <a:t>kumar</a:t>
            </a:r>
            <a:r>
              <a:rPr lang="en-US" sz="2000" dirty="0">
                <a:solidFill>
                  <a:srgbClr val="002060"/>
                </a:solidFill>
                <a:latin typeface="Times New Roman"/>
                <a:cs typeface="Times New Roman"/>
              </a:rPr>
              <a:t> P  | Prem </a:t>
            </a:r>
            <a:r>
              <a:rPr lang="en-US" sz="2000" dirty="0" err="1">
                <a:solidFill>
                  <a:srgbClr val="002060"/>
                </a:solidFill>
                <a:latin typeface="Times New Roman"/>
                <a:cs typeface="Times New Roman"/>
              </a:rPr>
              <a:t>chandra</a:t>
            </a:r>
            <a:r>
              <a:rPr lang="en-US" sz="2000" dirty="0">
                <a:solidFill>
                  <a:srgbClr val="002060"/>
                </a:solidFill>
                <a:latin typeface="Times New Roman"/>
                <a:cs typeface="Times New Roman"/>
              </a:rPr>
              <a:t> </a:t>
            </a:r>
            <a:r>
              <a:rPr lang="en-US" sz="2000" dirty="0" err="1">
                <a:solidFill>
                  <a:srgbClr val="002060"/>
                </a:solidFill>
                <a:latin typeface="Times New Roman"/>
                <a:cs typeface="Times New Roman"/>
              </a:rPr>
              <a:t>sagar</a:t>
            </a:r>
            <a:r>
              <a:rPr lang="en-US" sz="2000" dirty="0">
                <a:solidFill>
                  <a:srgbClr val="002060"/>
                </a:solidFill>
                <a:latin typeface="Times New Roman"/>
                <a:cs typeface="Times New Roman"/>
              </a:rPr>
              <a:t> V | R </a:t>
            </a:r>
            <a:r>
              <a:rPr lang="en-US" sz="2000" dirty="0" err="1">
                <a:solidFill>
                  <a:srgbClr val="002060"/>
                </a:solidFill>
                <a:latin typeface="Times New Roman"/>
                <a:cs typeface="Times New Roman"/>
              </a:rPr>
              <a:t>syed</a:t>
            </a:r>
            <a:r>
              <a:rPr lang="en-US" sz="200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/>
                <a:cs typeface="Times New Roman"/>
              </a:rPr>
              <a:t>mohammed</a:t>
            </a:r>
            <a:r>
              <a:rPr lang="en-US" sz="200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/>
                <a:cs typeface="Times New Roman"/>
              </a:rPr>
              <a:t>mahir</a:t>
            </a:r>
            <a:r>
              <a:rPr lang="en-US" sz="2000" dirty="0">
                <a:solidFill>
                  <a:srgbClr val="002060"/>
                </a:solidFill>
                <a:latin typeface="Times New Roman"/>
                <a:cs typeface="Times New Roman"/>
              </a:rPr>
              <a:t> </a:t>
            </a:r>
          </a:p>
          <a:p>
            <a:pPr algn="ctr">
              <a:buClr>
                <a:srgbClr val="0000FF"/>
              </a:buClr>
              <a:buSzPts val="4400"/>
            </a:pPr>
            <a:r>
              <a:rPr lang="en-US" sz="2000">
                <a:solidFill>
                  <a:srgbClr val="002060"/>
                </a:solidFill>
                <a:latin typeface="Times New Roman"/>
                <a:cs typeface="Times New Roman"/>
              </a:rPr>
              <a:t>                                                              1RZ25CS139| 1RZ25CS140 | 1RV25CS134 | 1RV25CS139                 Mentor Name Dr Gangadhar Angadi</a:t>
            </a:r>
            <a:endParaRPr sz="2000">
              <a:solidFill>
                <a:srgbClr val="975329"/>
              </a:solidFill>
              <a:latin typeface="Times New Roman"/>
              <a:cs typeface="Times New Roman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846751" y="14774675"/>
            <a:ext cx="7049317" cy="108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noAutofit/>
          </a:bodyPr>
          <a:lstStyle/>
          <a:p>
            <a:pPr marL="143538" indent="-74427">
              <a:lnSpc>
                <a:spcPct val="110000"/>
              </a:lnSpc>
              <a:buClr>
                <a:schemeClr val="dk1"/>
              </a:buClr>
              <a:buSzPts val="2600"/>
            </a:pPr>
            <a:endParaRPr sz="1088">
              <a:solidFill>
                <a:srgbClr val="00330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-350871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50871" y="11322617"/>
            <a:ext cx="77085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846751" y="16146261"/>
            <a:ext cx="5837217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accen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210452" y="16241953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9345927" y="6340480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057203" y="6353771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0" y="294760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0" y="4231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91385" y="3828772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 dirty="0">
              <a:solidFill>
                <a:schemeClr val="dk1"/>
              </a:solidFill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91385" y="4542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142752" y="1968997"/>
            <a:ext cx="7519803" cy="18935479"/>
            <a:chOff x="26374694" y="8524168"/>
            <a:chExt cx="17964396" cy="28277704"/>
          </a:xfrm>
        </p:grpSpPr>
        <p:sp>
          <p:nvSpPr>
            <p:cNvPr id="131" name="Google Shape;131;p1"/>
            <p:cNvSpPr/>
            <p:nvPr/>
          </p:nvSpPr>
          <p:spPr>
            <a:xfrm>
              <a:off x="26374694" y="8524168"/>
              <a:ext cx="17964396" cy="28277704"/>
            </a:xfrm>
            <a:prstGeom prst="roundRect">
              <a:avLst>
                <a:gd name="adj" fmla="val 2556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1" wrap="square" lIns="38271" tIns="19130" rIns="38271" bIns="19130" anchor="ctr" anchorCtr="0">
              <a:noAutofit/>
            </a:bodyPr>
            <a:lstStyle/>
            <a:p>
              <a:pPr>
                <a:buClr>
                  <a:schemeClr val="dk1"/>
                </a:buClr>
                <a:buSzPts val="3600"/>
              </a:pPr>
              <a:endParaRPr lang="en-IN" sz="1507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>
                <a:buClr>
                  <a:schemeClr val="dk1"/>
                </a:buClr>
                <a:buSzPts val="3600"/>
              </a:pPr>
              <a:r>
                <a:rPr lang="en-IN" sz="1507">
                  <a:latin typeface="Arial" panose="020B0604020202020204"/>
                  <a:ea typeface="Arial" panose="020B0604020202020204"/>
                  <a:cs typeface="Arial" panose="020B0604020202020204"/>
                </a:rPr>
                <a:t>              </a:t>
              </a:r>
              <a:endParaRPr sz="1507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0" name="Google Shape;150;p1"/>
            <p:cNvSpPr txBox="1"/>
            <p:nvPr/>
          </p:nvSpPr>
          <p:spPr>
            <a:xfrm>
              <a:off x="26650065" y="8801932"/>
              <a:ext cx="17344338" cy="473653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8271" tIns="19130" rIns="38271" bIns="19130" anchor="t" anchorCtr="0">
              <a:spAutoFit/>
            </a:bodyPr>
            <a:lstStyle/>
            <a:p>
              <a:pPr algn="ctr">
                <a:buClr>
                  <a:srgbClr val="002060"/>
                </a:buClr>
                <a:buSzPts val="4400"/>
              </a:pPr>
              <a:r>
                <a:rPr lang="en-IN" sz="1842" b="1" dirty="0">
                  <a:solidFill>
                    <a:srgbClr val="002060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  <a:sym typeface="Comic Sans MS" panose="030F0702030302020204"/>
                </a:rPr>
                <a:t>Introduction</a:t>
              </a:r>
              <a:endParaRPr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endParaRPr>
            </a:p>
          </p:txBody>
        </p:sp>
      </p:grpSp>
      <p:sp>
        <p:nvSpPr>
          <p:cNvPr id="161" name="Google Shape;161;p1"/>
          <p:cNvSpPr txBox="1"/>
          <p:nvPr/>
        </p:nvSpPr>
        <p:spPr>
          <a:xfrm>
            <a:off x="424665" y="16214823"/>
            <a:ext cx="6830161" cy="27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239230" indent="-143538">
              <a:buClr>
                <a:schemeClr val="dk1"/>
              </a:buClr>
              <a:buSzPts val="3600"/>
            </a:pPr>
            <a:endParaRPr sz="1507">
              <a:solidFill>
                <a:schemeClr val="dk1"/>
              </a:solidFill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218306" y="16347918"/>
            <a:ext cx="7397264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Empirical, Calculations, Tools &amp; Techniques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7801192" y="2145342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Results &amp; Discussions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7783025" y="9418154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Testing/Validation &amp; Feedback</a:t>
            </a:r>
          </a:p>
        </p:txBody>
      </p:sp>
      <p:sp>
        <p:nvSpPr>
          <p:cNvPr id="174" name="Google Shape;174;p1"/>
          <p:cNvSpPr txBox="1"/>
          <p:nvPr/>
        </p:nvSpPr>
        <p:spPr>
          <a:xfrm>
            <a:off x="7770611" y="16339037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IN" sz="2000" b="1" i="0" dirty="0">
                <a:effectLst/>
                <a:latin typeface="Söhne"/>
              </a:rPr>
              <a:t>References</a:t>
            </a:r>
          </a:p>
        </p:txBody>
      </p:sp>
      <p:sp>
        <p:nvSpPr>
          <p:cNvPr id="179" name="Google Shape;179;p1"/>
          <p:cNvSpPr txBox="1"/>
          <p:nvPr/>
        </p:nvSpPr>
        <p:spPr>
          <a:xfrm>
            <a:off x="12921869" y="111045"/>
            <a:ext cx="2207895" cy="26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16" rIns="0" bIns="0" anchor="t" anchorCtr="0">
            <a:spAutoFit/>
          </a:bodyPr>
          <a:lstStyle/>
          <a:p>
            <a:pPr marL="5316"/>
            <a:r>
              <a:rPr lang="en-IN" sz="1674" i="1" dirty="0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1674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Google Shape;150;p1">
            <a:extLst>
              <a:ext uri="{FF2B5EF4-FFF2-40B4-BE49-F238E27FC236}">
                <a16:creationId xmlns:a16="http://schemas.microsoft.com/office/drawing/2014/main" id="{96549883-8540-6668-D479-B7068ACA60DE}"/>
              </a:ext>
            </a:extLst>
          </p:cNvPr>
          <p:cNvSpPr txBox="1"/>
          <p:nvPr/>
        </p:nvSpPr>
        <p:spPr>
          <a:xfrm>
            <a:off x="91439" y="6738392"/>
            <a:ext cx="746823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Methodology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4" name="Google Shape;150;p1">
            <a:extLst>
              <a:ext uri="{FF2B5EF4-FFF2-40B4-BE49-F238E27FC236}">
                <a16:creationId xmlns:a16="http://schemas.microsoft.com/office/drawing/2014/main" id="{6F6964B9-9CEB-4BB5-CA66-443F445C218E}"/>
              </a:ext>
            </a:extLst>
          </p:cNvPr>
          <p:cNvSpPr txBox="1"/>
          <p:nvPr/>
        </p:nvSpPr>
        <p:spPr>
          <a:xfrm>
            <a:off x="218306" y="4381421"/>
            <a:ext cx="7285572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Objectives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pic>
        <p:nvPicPr>
          <p:cNvPr id="11" name="Picture 2" descr="May be an image of text that says &quot;R RASHTREEYA R SIKSHANA SAMITHI SAMAITHI V TRUST INSTITUTIONS&quot;">
            <a:extLst>
              <a:ext uri="{FF2B5EF4-FFF2-40B4-BE49-F238E27FC236}">
                <a16:creationId xmlns:a16="http://schemas.microsoft.com/office/drawing/2014/main" id="{7C2EFEC0-42F0-B598-C59C-701CF1C97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2" y="111045"/>
            <a:ext cx="1655508" cy="165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92;p1">
            <a:extLst>
              <a:ext uri="{FF2B5EF4-FFF2-40B4-BE49-F238E27FC236}">
                <a16:creationId xmlns:a16="http://schemas.microsoft.com/office/drawing/2014/main" id="{C3C138E0-EC15-F332-8FAA-6F2D3C197756}"/>
              </a:ext>
            </a:extLst>
          </p:cNvPr>
          <p:cNvSpPr txBox="1"/>
          <p:nvPr/>
        </p:nvSpPr>
        <p:spPr>
          <a:xfrm>
            <a:off x="11645447" y="367183"/>
            <a:ext cx="3381248" cy="7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990000"/>
              </a:buClr>
              <a:buSzPts val="6000"/>
            </a:pPr>
            <a:r>
              <a:rPr lang="en-IN" sz="2400" b="1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Branch: CS</a:t>
            </a:r>
            <a:endParaRPr lang="en-IN" sz="2400" b="1" dirty="0">
              <a:solidFill>
                <a:schemeClr val="accent2">
                  <a:lumMod val="50000"/>
                </a:schemeClr>
              </a:solidFill>
              <a:latin typeface="Trebuchet MS" panose="020B0603020202020204"/>
              <a:ea typeface="Tahoma" panose="020B0604030504040204"/>
              <a:cs typeface="Tahoma" panose="020B0604030504040204"/>
              <a:sym typeface="Trebuchet MS" panose="020B0603020202020204"/>
            </a:endParaRPr>
          </a:p>
          <a:p>
            <a:pPr>
              <a:buClr>
                <a:srgbClr val="990000"/>
              </a:buClr>
              <a:buSzPts val="6000"/>
            </a:pPr>
            <a:r>
              <a:rPr lang="en-US" sz="2400" b="1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Section: D</a:t>
            </a:r>
            <a:endParaRPr lang="en-US" sz="2400" b="1">
              <a:solidFill>
                <a:schemeClr val="accent2">
                  <a:lumMod val="50000"/>
                </a:schemeClr>
              </a:solidFill>
              <a:latin typeface="Trebuchet MS" panose="020B0603020202020204"/>
              <a:ea typeface="Tahoma" panose="020B0604030504040204"/>
              <a:cs typeface="Tahoma" panose="020B0604030504040204"/>
            </a:endParaRPr>
          </a:p>
        </p:txBody>
      </p:sp>
      <p:sp>
        <p:nvSpPr>
          <p:cNvPr id="13" name="Google Shape;173;p1">
            <a:extLst>
              <a:ext uri="{FF2B5EF4-FFF2-40B4-BE49-F238E27FC236}">
                <a16:creationId xmlns:a16="http://schemas.microsoft.com/office/drawing/2014/main" id="{4D62BE2B-B35B-D625-2122-05FD6EFD4E3C}"/>
              </a:ext>
            </a:extLst>
          </p:cNvPr>
          <p:cNvSpPr txBox="1"/>
          <p:nvPr/>
        </p:nvSpPr>
        <p:spPr>
          <a:xfrm>
            <a:off x="7785102" y="13082184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Measurable Outcomes </a:t>
            </a:r>
          </a:p>
        </p:txBody>
      </p:sp>
      <p:sp>
        <p:nvSpPr>
          <p:cNvPr id="9" name="Google Shape;174;p1">
            <a:extLst>
              <a:ext uri="{FF2B5EF4-FFF2-40B4-BE49-F238E27FC236}">
                <a16:creationId xmlns:a16="http://schemas.microsoft.com/office/drawing/2014/main" id="{2F547D69-D0D0-C594-CD7F-F9B90CF1C02A}"/>
              </a:ext>
            </a:extLst>
          </p:cNvPr>
          <p:cNvSpPr txBox="1"/>
          <p:nvPr/>
        </p:nvSpPr>
        <p:spPr>
          <a:xfrm>
            <a:off x="7838482" y="18678289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US" sz="2000" b="1" i="0" dirty="0">
                <a:effectLst/>
                <a:latin typeface="Söhne"/>
              </a:rPr>
              <a:t>QR codes</a:t>
            </a:r>
            <a:endParaRPr lang="en-IN" sz="2000" b="1" i="0" dirty="0">
              <a:effectLst/>
              <a:latin typeface="Söhne"/>
            </a:endParaRPr>
          </a:p>
        </p:txBody>
      </p:sp>
      <p:sp>
        <p:nvSpPr>
          <p:cNvPr id="10" name="Google Shape;92;p1">
            <a:extLst>
              <a:ext uri="{FF2B5EF4-FFF2-40B4-BE49-F238E27FC236}">
                <a16:creationId xmlns:a16="http://schemas.microsoft.com/office/drawing/2014/main" id="{CB4C0572-8042-90BA-3039-FC667E1352E3}"/>
              </a:ext>
            </a:extLst>
          </p:cNvPr>
          <p:cNvSpPr txBox="1"/>
          <p:nvPr/>
        </p:nvSpPr>
        <p:spPr>
          <a:xfrm>
            <a:off x="5037187" y="771391"/>
            <a:ext cx="4629003" cy="44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990000"/>
              </a:buClr>
              <a:buSzPts val="6000"/>
            </a:pPr>
            <a:r>
              <a:rPr lang="en-IN" sz="1600" b="1" baseline="30000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V</a:t>
            </a:r>
          </a:p>
          <a:p>
            <a:pPr algn="ctr">
              <a:buClr>
                <a:srgbClr val="990000"/>
              </a:buClr>
              <a:buSzPts val="6000"/>
            </a:pPr>
            <a:r>
              <a:rPr lang="en-IN" sz="1600" b="1">
                <a:solidFill>
                  <a:srgbClr val="002060"/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IDEA LAB SEE Project -  II SEM</a:t>
            </a:r>
            <a:endParaRPr b="1">
              <a:solidFill>
                <a:srgbClr val="00206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72275" y="20857076"/>
            <a:ext cx="19768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2024-2025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36218D-60BF-C22A-AECA-4A533E3E3980}"/>
              </a:ext>
            </a:extLst>
          </p:cNvPr>
          <p:cNvSpPr txBox="1"/>
          <p:nvPr/>
        </p:nvSpPr>
        <p:spPr>
          <a:xfrm>
            <a:off x="350871" y="2467452"/>
            <a:ext cx="69039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The Smart Energy Management and Room Automation System is an Arduino-based solution developed to improve energy efficiency, comfort, and safety in indoor environments. It uses an IR sensor for occupancy detection, an LDR sensor for automatic lighting control, a DHT11 sensor for temperature monitoring, and an MQ-2 sensor for smoke detection. The system automatically controls appliances, displays real-time information, and provides emergency alerts when hazardous conditions are detected.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79C26-29BB-7FD2-6CD1-ED11D3685897}"/>
              </a:ext>
            </a:extLst>
          </p:cNvPr>
          <p:cNvSpPr txBox="1"/>
          <p:nvPr/>
        </p:nvSpPr>
        <p:spPr>
          <a:xfrm>
            <a:off x="258021" y="4703530"/>
            <a:ext cx="730165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detect room occupancy automatically using an IR sensor.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implement smart lighting control using an LDR sensor for energy conservation.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monitor room temperature in real time using a DHT11 sensor.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detect smoke and provide immediate safety alerts using an MQ-2 smoke sensor and buzzer.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automate appliance control through a relay module based on sensor inputs.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enhance energy efficiency, user comfort, and safety through intelligent room automation.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BB108C9-8AEB-DDCE-520F-58FD7BB3C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05" y="7023508"/>
            <a:ext cx="7603563" cy="93148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2953EE2-B0B6-DA48-A4A0-71A27FBDAA08}"/>
              </a:ext>
            </a:extLst>
          </p:cNvPr>
          <p:cNvSpPr txBox="1"/>
          <p:nvPr/>
        </p:nvSpPr>
        <p:spPr>
          <a:xfrm>
            <a:off x="7732853" y="7009350"/>
            <a:ext cx="7215548" cy="67403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Successfully demonstrated real-time automation by integrating occupancy detection, smart lighting, temperature monitoring, and smoke detection into a single system</a:t>
            </a:r>
            <a:endParaRPr lang="en-US">
              <a:ea typeface="+mn-lt"/>
              <a:cs typeface="+mn-lt"/>
            </a:endParaRPr>
          </a:p>
          <a:p>
            <a:endParaRPr lang="en-US" sz="16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The prototype responded accurately and reliably to changing environmental conditions, ensuring efficient energy management and enhanced user safety.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Experimental evaluation confirmed the system as a cost-effective, scalable, and practical solution for smart home and office automation.</a:t>
            </a:r>
            <a:endParaRPr lang="en-US"/>
          </a:p>
          <a:p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latin typeface="Times New Roman"/>
              <a:ea typeface="Calibri"/>
              <a:cs typeface="Times New Roman"/>
            </a:endParaRPr>
          </a:p>
          <a:p>
            <a:r>
              <a:rPr lang="en-US" sz="1600">
                <a:latin typeface="Times New Roman"/>
                <a:cs typeface="Times New Roman"/>
              </a:rPr>
              <a:t>Occupancy detection was tested using the IR sensor and accurately identified room entry and exit events.</a:t>
            </a:r>
            <a:endParaRPr lang="en-US">
              <a:ea typeface="Calibri"/>
              <a:cs typeface="Calibri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LDR sensor successfully controlled lighting based on ambient light conditions, turning lights ON in dark environments and OFF in bright conditions.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Temperature readings obtained from the DHT11 sensor were displayed correctly on the LCD and remained consistent during testing.</a:t>
            </a:r>
          </a:p>
          <a:p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cs typeface="Times New Roman"/>
              </a:rPr>
              <a:t>• Smoke detection tests using the MQ-2 sensor successfully triggered the buzzer, red LED alert, and relay shutdown when the threshold value was exceeded.</a:t>
            </a:r>
          </a:p>
          <a:p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>
                <a:ea typeface="+mn-lt"/>
                <a:cs typeface="+mn-lt"/>
              </a:rPr>
              <a:t>• The integrated system operated reliably under different test scenarios, effectively improving energy efficiency, user comfort, and safety through intelligent automation.</a:t>
            </a:r>
            <a:endParaRPr lang="en-US">
              <a:ea typeface="+mn-lt"/>
              <a:cs typeface="+mn-lt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4BD6CB8-EEA0-C8C9-836F-8718835C4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6128" y="19152075"/>
            <a:ext cx="1794852" cy="179485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ED66F47-CE3E-79F7-600C-2F57B02D00CD}"/>
              </a:ext>
            </a:extLst>
          </p:cNvPr>
          <p:cNvSpPr txBox="1"/>
          <p:nvPr/>
        </p:nvSpPr>
        <p:spPr>
          <a:xfrm>
            <a:off x="7789620" y="13473323"/>
            <a:ext cx="7001493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• Successfully detected room occupancy using an IR sensor with automatic system activation.</a:t>
            </a:r>
            <a:endParaRPr lang="en-US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Achieved automatic lighting control based on ambient light intensity using an LDR sensor.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Monitored and displayed real-time room temperature using a DHT11 sensor.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Detected smoke levels above the predefined threshold and triggered emergency alerts.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Automatically disconnected electrical loads during hazardous conditions using a relay module.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30DB88-F5A8-4FA0-6CF5-96CBFB04091C}"/>
              </a:ext>
            </a:extLst>
          </p:cNvPr>
          <p:cNvSpPr txBox="1"/>
          <p:nvPr/>
        </p:nvSpPr>
        <p:spPr>
          <a:xfrm>
            <a:off x="7857520" y="16843734"/>
            <a:ext cx="69832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Arduino Uno Datasheet, Arduino Documentation, Arduino.cc.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DHT11 Temperature and Humidity Sensor Datasheet,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Aosong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MQ-2 Smoke Sensor Datasheet,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Winsen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Arduino IDE Documentation, Arduino Software Platform.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LiquidCrystal_I2C Library Documentation, Arduino Libraries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D9C4AF-F3FC-403C-CC79-710E3A6D03B1}"/>
              </a:ext>
            </a:extLst>
          </p:cNvPr>
          <p:cNvSpPr txBox="1"/>
          <p:nvPr/>
        </p:nvSpPr>
        <p:spPr>
          <a:xfrm>
            <a:off x="243628" y="16688611"/>
            <a:ext cx="726025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Arduino Uno Microcontroller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Arduino IDE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DHT11 Temperature Sensor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IR Sensor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LDR Sensor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MQ-2 Smoke Sensor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LCD 16×2 I2C Display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Buzzer and LEDs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Occupancy-Based Automation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Sensor Data Acquisition and Processing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Threshold-Based Decision Making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Lighting Control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Environmental Monitoring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Smoke Detection and Emergency Alert Mechanism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Embedded System Programming using Arduino C++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59AA54-E607-09F1-7819-E42B078221F5}"/>
              </a:ext>
            </a:extLst>
          </p:cNvPr>
          <p:cNvSpPr txBox="1"/>
          <p:nvPr/>
        </p:nvSpPr>
        <p:spPr>
          <a:xfrm>
            <a:off x="7855950" y="2532792"/>
            <a:ext cx="7083233" cy="67827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pic>
        <p:nvPicPr>
          <p:cNvPr id="12" name="Picture 11" descr="A box with wires and wires&#10;&#10;AI-generated content may be incorrect.">
            <a:extLst>
              <a:ext uri="{FF2B5EF4-FFF2-40B4-BE49-F238E27FC236}">
                <a16:creationId xmlns:a16="http://schemas.microsoft.com/office/drawing/2014/main" id="{D9FC2D44-7683-EA9A-B607-FDC96EC9EC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9143" y="2563671"/>
            <a:ext cx="3429492" cy="4549423"/>
          </a:xfrm>
          <a:prstGeom prst="rect">
            <a:avLst/>
          </a:prstGeom>
        </p:spPr>
      </p:pic>
      <p:pic>
        <p:nvPicPr>
          <p:cNvPr id="14" name="Picture 13" descr="A box with a fan on it&#10;&#10;AI-generated content may be incorrect.">
            <a:extLst>
              <a:ext uri="{FF2B5EF4-FFF2-40B4-BE49-F238E27FC236}">
                <a16:creationId xmlns:a16="http://schemas.microsoft.com/office/drawing/2014/main" id="{BD730B2D-82A9-FD07-10D2-84DDF41FBC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11918" y="2578473"/>
            <a:ext cx="3554057" cy="45448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416</TotalTime>
  <Words>795</Words>
  <Application>Microsoft Office PowerPoint</Application>
  <PresentationFormat>Custom</PresentationFormat>
  <Paragraphs>80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india</dc:creator>
  <cp:lastModifiedBy>User</cp:lastModifiedBy>
  <cp:revision>172</cp:revision>
  <cp:lastPrinted>2024-01-29T05:31:42Z</cp:lastPrinted>
  <dcterms:created xsi:type="dcterms:W3CDTF">2020-07-26T16:54:19Z</dcterms:created>
  <dcterms:modified xsi:type="dcterms:W3CDTF">2026-07-09T10:29:58Z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1033-11.2.0.9453</vt:lpwstr>
  </property>
</Properties>
</file>